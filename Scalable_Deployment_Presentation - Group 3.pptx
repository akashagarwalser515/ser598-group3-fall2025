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63" r:id="rId2"/>
    <p:sldId id="262" r:id="rId3"/>
    <p:sldId id="257" r:id="rId4"/>
    <p:sldId id="258" r:id="rId5"/>
    <p:sldId id="259" r:id="rId6"/>
    <p:sldId id="260" r:id="rId7"/>
    <p:sldId id="261" r:id="rId8"/>
    <p:sldId id="264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1291D9BD-030A-5F43-B729-D8E47C8B677B}">
          <p14:sldIdLst>
            <p14:sldId id="263"/>
            <p14:sldId id="262"/>
            <p14:sldId id="257"/>
            <p14:sldId id="258"/>
            <p14:sldId id="259"/>
            <p14:sldId id="260"/>
            <p14:sldId id="261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8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200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76856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64DCB0-79FA-C71A-B8D2-E9B5F895DD93}"/>
              </a:ext>
            </a:extLst>
          </p:cNvPr>
          <p:cNvSpPr txBox="1"/>
          <p:nvPr/>
        </p:nvSpPr>
        <p:spPr>
          <a:xfrm>
            <a:off x="1072342" y="1953491"/>
            <a:ext cx="6974378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Performant and Scalable deployment: replication, cloud, containers, k8s, CDNs, </a:t>
            </a:r>
            <a:r>
              <a:rPr lang="en-US" sz="2800" dirty="0">
                <a:solidFill>
                  <a:schemeClr val="accent1"/>
                </a:solidFill>
              </a:rPr>
              <a:t>caching</a:t>
            </a:r>
            <a:r>
              <a:rPr lang="en-US" sz="2400" dirty="0">
                <a:solidFill>
                  <a:schemeClr val="accent1"/>
                </a:solidFill>
              </a:rPr>
              <a:t>, Edge APIs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B948E9-2C0C-9A89-6ACC-CFB7A04FCDF2}"/>
              </a:ext>
            </a:extLst>
          </p:cNvPr>
          <p:cNvSpPr txBox="1"/>
          <p:nvPr/>
        </p:nvSpPr>
        <p:spPr>
          <a:xfrm>
            <a:off x="1224742" y="995547"/>
            <a:ext cx="69743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accent1"/>
                </a:solidFill>
              </a:rPr>
              <a:t>Group 3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E65CA4-8B70-0D5F-B0C2-84A93F9A911D}"/>
              </a:ext>
            </a:extLst>
          </p:cNvPr>
          <p:cNvSpPr txBox="1"/>
          <p:nvPr/>
        </p:nvSpPr>
        <p:spPr>
          <a:xfrm>
            <a:off x="1224740" y="3096491"/>
            <a:ext cx="697437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</a:rPr>
              <a:t>Akash Agarwal</a:t>
            </a:r>
          </a:p>
          <a:p>
            <a:pPr algn="ctr"/>
            <a:r>
              <a:rPr lang="en-US" sz="1600" dirty="0">
                <a:solidFill>
                  <a:schemeClr val="accent1"/>
                </a:solidFill>
              </a:rPr>
              <a:t>Aarti </a:t>
            </a:r>
            <a:r>
              <a:rPr lang="en-US" sz="1600" dirty="0" err="1">
                <a:solidFill>
                  <a:schemeClr val="accent1"/>
                </a:solidFill>
              </a:rPr>
              <a:t>Nemade</a:t>
            </a:r>
            <a:endParaRPr lang="en-US" sz="1600" dirty="0">
              <a:solidFill>
                <a:schemeClr val="accent1"/>
              </a:solidFill>
            </a:endParaRPr>
          </a:p>
          <a:p>
            <a:pPr algn="ctr"/>
            <a:r>
              <a:rPr lang="en-US" sz="1600" dirty="0">
                <a:solidFill>
                  <a:schemeClr val="accent1"/>
                </a:solidFill>
              </a:rPr>
              <a:t>Rushit Kothari</a:t>
            </a:r>
          </a:p>
          <a:p>
            <a:pPr algn="ctr"/>
            <a:r>
              <a:rPr lang="en-US" sz="1600" dirty="0">
                <a:solidFill>
                  <a:schemeClr val="accent1"/>
                </a:solidFill>
              </a:rPr>
              <a:t>Rushad </a:t>
            </a:r>
            <a:r>
              <a:rPr lang="en-US" sz="1600" dirty="0" err="1">
                <a:solidFill>
                  <a:schemeClr val="accent1"/>
                </a:solidFill>
              </a:rPr>
              <a:t>Wankadia</a:t>
            </a:r>
            <a:endParaRPr lang="en-US" sz="16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3012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Outcomes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85750" y="600075"/>
            <a:ext cx="874395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225"/>
              </a:spcBef>
              <a:buNone/>
            </a:pPr>
            <a:r>
              <a:rPr lang="en-US" sz="10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Performant and Scalable Deployment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1000" y="1034355"/>
            <a:ext cx="8382000" cy="975758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1034354"/>
            <a:ext cx="6928" cy="969207"/>
          </a:xfrm>
          <a:prstGeom prst="line">
            <a:avLst/>
          </a:prstGeom>
          <a:noFill/>
          <a:ln w="381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3400" y="1148655"/>
            <a:ext cx="8277606" cy="66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350"/>
              </a:lnSpc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Analyze the architectural differences between Virtual Machines and Containers, specifically contrasting the "resource heavy" nature of guest OS isolation against the "lightweight" efficiency of shared host OS resources.</a:t>
            </a:r>
          </a:p>
        </p:txBody>
      </p:sp>
      <p:sp>
        <p:nvSpPr>
          <p:cNvPr id="10" name="Text 8"/>
          <p:cNvSpPr/>
          <p:nvPr/>
        </p:nvSpPr>
        <p:spPr>
          <a:xfrm>
            <a:off x="381000" y="3341135"/>
            <a:ext cx="8382000" cy="775395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06978" y="3341541"/>
            <a:ext cx="0" cy="775394"/>
          </a:xfrm>
          <a:prstGeom prst="line">
            <a:avLst/>
          </a:prstGeom>
          <a:noFill/>
          <a:ln w="381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33400" y="3455436"/>
            <a:ext cx="8277606" cy="553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base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Evaluate the historical evolution of deployment technologies,  from early process isolation (Unix chroot) to modern Orchestration (Kubernetes) and CDNs, to assess the trade-offs between isolation, speed, and management complexity.</a:t>
            </a:r>
          </a:p>
        </p:txBody>
      </p:sp>
      <p:sp>
        <p:nvSpPr>
          <p:cNvPr id="21" name="Text 19"/>
          <p:cNvSpPr/>
          <p:nvPr/>
        </p:nvSpPr>
        <p:spPr>
          <a:xfrm>
            <a:off x="533400" y="3748980"/>
            <a:ext cx="82776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fontAlgn="base"/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81000" y="47815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SER598 Advanced Project Tutorial</a:t>
            </a:r>
            <a:endParaRPr lang="en-US" sz="750" dirty="0"/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458BD61A-A9A8-66C2-4C95-217277E78B25}"/>
              </a:ext>
            </a:extLst>
          </p:cNvPr>
          <p:cNvSpPr/>
          <p:nvPr/>
        </p:nvSpPr>
        <p:spPr>
          <a:xfrm>
            <a:off x="381000" y="2261260"/>
            <a:ext cx="8382000" cy="775395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9">
            <a:extLst>
              <a:ext uri="{FF2B5EF4-FFF2-40B4-BE49-F238E27FC236}">
                <a16:creationId xmlns:a16="http://schemas.microsoft.com/office/drawing/2014/main" id="{C44DC118-BB9F-C2F9-9AC9-745394200679}"/>
              </a:ext>
            </a:extLst>
          </p:cNvPr>
          <p:cNvSpPr/>
          <p:nvPr/>
        </p:nvSpPr>
        <p:spPr>
          <a:xfrm>
            <a:off x="400050" y="2261261"/>
            <a:ext cx="0" cy="775394"/>
          </a:xfrm>
          <a:prstGeom prst="line">
            <a:avLst/>
          </a:prstGeom>
          <a:noFill/>
          <a:ln w="381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D2801024-25EA-9554-A190-FE4F73A9B46C}"/>
              </a:ext>
            </a:extLst>
          </p:cNvPr>
          <p:cNvSpPr/>
          <p:nvPr/>
        </p:nvSpPr>
        <p:spPr>
          <a:xfrm>
            <a:off x="533400" y="2375561"/>
            <a:ext cx="8277606" cy="553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base"/>
            <a:r>
              <a:rPr lang="en-US" sz="1200" dirty="0"/>
              <a:t>Apply the concept of a "layer of indirection" to explain how Hypervisors, Container Engines, and Orchestrators decouple software from physical hardware to enable automation and scalability.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Concepts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85750" y="600075"/>
            <a:ext cx="874395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225"/>
              </a:spcBef>
              <a:buNone/>
            </a:pPr>
            <a:r>
              <a:rPr lang="en-US" sz="10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Foundational Technologies for Scalable Deployment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1000" y="1053405"/>
            <a:ext cx="4284536" cy="169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3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of Indirection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1279773"/>
            <a:ext cx="8549640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 to introduce a layer between components to solve problems without significant system changes. Previously direct invocations now go through the indirection layer.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81000" y="1769120"/>
            <a:ext cx="4284536" cy="169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3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Machines (VMs)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1000" y="1995487"/>
            <a:ext cx="854964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computers on physical hardware. Run their own OS independently via hypervisor. </a:t>
            </a:r>
            <a:r>
              <a:rPr lang="en-US" sz="9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Pros:</a:t>
            </a: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Strong isolation. </a:t>
            </a:r>
            <a:r>
              <a:rPr lang="en-US" sz="9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Cons:</a:t>
            </a: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Resource-heavy (entire OS in memory).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1000" y="2302073"/>
            <a:ext cx="4284536" cy="169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3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1000" y="2528441"/>
            <a:ext cx="8549640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 code and dependencies for consistent execution. Lighter than VMs (no guest OS), use host OS resources. </a:t>
            </a:r>
            <a:r>
              <a:rPr lang="en-US" sz="9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Pros:</a:t>
            </a: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Lightweight, efficient. </a:t>
            </a:r>
            <a:r>
              <a:rPr lang="en-US" sz="9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Cons:</a:t>
            </a: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Less isolation than VMs.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1000" y="3017788"/>
            <a:ext cx="4284536" cy="169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3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1000" y="3244155"/>
            <a:ext cx="8549640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Coordinating distributed software components (microservices, APIs, databases) for efficient operation. Central orchestrator manages system interactions toward end goals.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1000" y="3733502"/>
            <a:ext cx="4284536" cy="169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3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Delivery Network (CDN)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1000" y="3959870"/>
            <a:ext cx="8549640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Distributed servers that reduce geographic distance between users and content. Cache static assets at edge locations globally for minimal latency and high availability.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1000" y="47815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Cloud Computing Tutorial - Zhao, Ming (2025)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566413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 Deployment Architecture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85750" y="600075"/>
            <a:ext cx="874395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225"/>
              </a:spcBef>
              <a:buNone/>
            </a:pPr>
            <a:r>
              <a:rPr lang="en-US" sz="10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Cloud-Native Stack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1000" y="1053405"/>
            <a:ext cx="209854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Infrastructure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81000" y="1339155"/>
            <a:ext cx="4105275" cy="758130"/>
          </a:xfrm>
          <a:prstGeom prst="roundRect">
            <a:avLst>
              <a:gd name="adj" fmla="val 7538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04825" y="1462980"/>
            <a:ext cx="3934777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375"/>
              </a:spcAft>
              <a:buNone/>
            </a:pPr>
            <a:r>
              <a:rPr lang="en-US" sz="975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Containerization (Docker)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504825" y="1659136"/>
            <a:ext cx="393477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 applications with dependencies. Consistent deployment across environments. Lightweight, portable, fast startup.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381000" y="2183011"/>
            <a:ext cx="4105275" cy="758130"/>
          </a:xfrm>
          <a:prstGeom prst="roundRect">
            <a:avLst>
              <a:gd name="adj" fmla="val 7538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04825" y="2306836"/>
            <a:ext cx="3934777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375"/>
              </a:spcAft>
              <a:buNone/>
            </a:pPr>
            <a:r>
              <a:rPr lang="en-US" sz="975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 (Kubernetes)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504825" y="2502991"/>
            <a:ext cx="393477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 deployment, scaling, management of containerized apps. Handles load balancing, self-healing, rollouts/rollbacks. Amazon EKS for managed Kubernetes.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381000" y="3026866"/>
            <a:ext cx="4105275" cy="758130"/>
          </a:xfrm>
          <a:prstGeom prst="roundRect">
            <a:avLst>
              <a:gd name="adj" fmla="val 7538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04825" y="3150691"/>
            <a:ext cx="3934777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375"/>
              </a:spcAft>
              <a:buNone/>
            </a:pPr>
            <a:r>
              <a:rPr lang="en-US" sz="975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Autoscaling (HPA)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504825" y="3346847"/>
            <a:ext cx="393477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Horizontal Pod Autoscaler dynamically adjusts replicas based on CPU/memory. Handles traffic spikes efficiently, optimizes resource costs.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381000" y="3870722"/>
            <a:ext cx="4105275" cy="758130"/>
          </a:xfrm>
          <a:prstGeom prst="roundRect">
            <a:avLst>
              <a:gd name="adj" fmla="val 7538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04825" y="3994547"/>
            <a:ext cx="3934777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375"/>
              </a:spcAft>
              <a:buNone/>
            </a:pPr>
            <a:r>
              <a:rPr lang="en-US" sz="975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Storage (AWS S3)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504825" y="4190702"/>
            <a:ext cx="393477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 storage for stateless applications. Durable, scalable, cost-effective. Supports CDN integration for global delivery.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4657725" y="1053405"/>
            <a:ext cx="209854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Layer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657725" y="1339155"/>
            <a:ext cx="4105275" cy="758130"/>
          </a:xfrm>
          <a:prstGeom prst="roundRect">
            <a:avLst>
              <a:gd name="adj" fmla="val 7538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676775" y="1339155"/>
            <a:ext cx="0" cy="758130"/>
          </a:xfrm>
          <a:prstGeom prst="line">
            <a:avLst/>
          </a:prstGeom>
          <a:noFill/>
          <a:ln w="381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19650" y="1462980"/>
            <a:ext cx="3895916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375"/>
              </a:spcAft>
              <a:buNone/>
            </a:pPr>
            <a:r>
              <a:rPr lang="en-US" sz="975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CDN (CloudFront/Cloudflare)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4819650" y="1659136"/>
            <a:ext cx="389591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locations cache static assets globally. Reduce latency from 200ms to 20-50ms. Handle traffic spikes, DDoS protection.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4657725" y="2183011"/>
            <a:ext cx="4105275" cy="758130"/>
          </a:xfrm>
          <a:prstGeom prst="roundRect">
            <a:avLst>
              <a:gd name="adj" fmla="val 7538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676775" y="2183011"/>
            <a:ext cx="0" cy="758130"/>
          </a:xfrm>
          <a:prstGeom prst="line">
            <a:avLst/>
          </a:prstGeom>
          <a:noFill/>
          <a:ln w="381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19650" y="2306836"/>
            <a:ext cx="3895916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375"/>
              </a:spcAft>
              <a:buNone/>
            </a:pPr>
            <a:r>
              <a:rPr lang="en-US" sz="975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Caching (Redis)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4819650" y="2502991"/>
            <a:ext cx="389591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In-memory caching for frequent queries. Reduce database load, improve response time. TTL-based invalidation strategies.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4657725" y="3026866"/>
            <a:ext cx="4105275" cy="758130"/>
          </a:xfrm>
          <a:prstGeom prst="roundRect">
            <a:avLst>
              <a:gd name="adj" fmla="val 7538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676775" y="3026866"/>
            <a:ext cx="0" cy="758130"/>
          </a:xfrm>
          <a:prstGeom prst="line">
            <a:avLst/>
          </a:prstGeom>
          <a:noFill/>
          <a:ln w="381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19650" y="3150691"/>
            <a:ext cx="3895916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375"/>
              </a:spcAft>
              <a:buNone/>
            </a:pPr>
            <a:r>
              <a:rPr lang="en-US" sz="975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APIs (Lambda@Edge)</a:t>
            </a:r>
            <a:endParaRPr lang="en-US" sz="975" dirty="0"/>
          </a:p>
        </p:txBody>
      </p:sp>
      <p:sp>
        <p:nvSpPr>
          <p:cNvPr id="29" name="Text 27"/>
          <p:cNvSpPr/>
          <p:nvPr/>
        </p:nvSpPr>
        <p:spPr>
          <a:xfrm>
            <a:off x="4819650" y="3346847"/>
            <a:ext cx="389591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code at edge locations. Request validation, auth checks, A/B testing. Reduce origin server load, lower latency.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4657725" y="3870722"/>
            <a:ext cx="4105275" cy="758130"/>
          </a:xfrm>
          <a:prstGeom prst="roundRect">
            <a:avLst>
              <a:gd name="adj" fmla="val 7538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4676775" y="3870722"/>
            <a:ext cx="0" cy="758130"/>
          </a:xfrm>
          <a:prstGeom prst="line">
            <a:avLst/>
          </a:prstGeom>
          <a:noFill/>
          <a:ln w="381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19650" y="3994547"/>
            <a:ext cx="3895916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375"/>
              </a:spcAft>
              <a:buNone/>
            </a:pPr>
            <a:r>
              <a:rPr lang="en-US" sz="975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Ingress Routing</a:t>
            </a:r>
            <a:endParaRPr lang="en-US" sz="975" dirty="0"/>
          </a:p>
        </p:txBody>
      </p:sp>
      <p:sp>
        <p:nvSpPr>
          <p:cNvPr id="33" name="Text 31"/>
          <p:cNvSpPr/>
          <p:nvPr/>
        </p:nvSpPr>
        <p:spPr>
          <a:xfrm>
            <a:off x="4819650" y="4190702"/>
            <a:ext cx="389591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Ingress manages external access. Path-based routing, SSL termination, load balancing across services.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381000" y="47815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SER421 Project Tutorial - Performant and Scalable Deployment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76059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Dive: CDN Infrastructure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285750" y="581025"/>
            <a:ext cx="874395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225"/>
              </a:spcBef>
              <a:buNone/>
            </a:pPr>
            <a:r>
              <a:rPr lang="en-US" sz="10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Essential Infrastructure with Real Risks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1000" y="1072455"/>
            <a:ext cx="4095750" cy="1714500"/>
          </a:xfrm>
          <a:prstGeom prst="roundRect">
            <a:avLst>
              <a:gd name="adj" fmla="val 4444"/>
            </a:avLst>
          </a:prstGeom>
          <a:solidFill>
            <a:srgbClr val="DCFCE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1072455"/>
            <a:ext cx="0" cy="1714500"/>
          </a:xfrm>
          <a:prstGeom prst="line">
            <a:avLst/>
          </a:prstGeom>
          <a:noFill/>
          <a:ln w="381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71500" y="1224855"/>
            <a:ext cx="192366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The Good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71500" y="1491555"/>
            <a:ext cx="38279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Performance:</a:t>
            </a:r>
            <a:r>
              <a:rPr lang="en-US" sz="9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Users expect &lt;2s load times. CDNs reduce latency from 200ms to 20-50ms.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71500" y="1891605"/>
            <a:ext cx="38279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Impact:</a:t>
            </a:r>
            <a:r>
              <a:rPr lang="en-US" sz="9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Every 100ms of latency costs Amazon 1% in sales. 53% of mobile users abandon sites taking &gt;3s to load.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71500" y="2291655"/>
            <a:ext cx="38279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Scale:</a:t>
            </a:r>
            <a:r>
              <a:rPr lang="en-US" sz="9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Netflix delivers 250M+ hours of content daily via CDN infrastructure.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1000" y="2920305"/>
            <a:ext cx="4095750" cy="1085850"/>
          </a:xfrm>
          <a:prstGeom prst="roundRect">
            <a:avLst>
              <a:gd name="adj" fmla="val 7018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00050" y="2920305"/>
            <a:ext cx="0" cy="1085850"/>
          </a:xfrm>
          <a:prstGeom prst="line">
            <a:avLst/>
          </a:prstGeom>
          <a:noFill/>
          <a:ln w="381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71500" y="3072705"/>
            <a:ext cx="192366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Future Outlook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71500" y="3339405"/>
            <a:ext cx="3827907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CDNs evolving into edge computing platforms running application logic. By 2025, 82% of internet traffic will be video. Multi-CDN strategies needed but add complexity.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67250" y="1072455"/>
            <a:ext cx="4095750" cy="1714500"/>
          </a:xfrm>
          <a:prstGeom prst="roundRect">
            <a:avLst>
              <a:gd name="adj" fmla="val 4444"/>
            </a:avLst>
          </a:prstGeom>
          <a:solidFill>
            <a:srgbClr val="FEE2E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686300" y="1072455"/>
            <a:ext cx="0" cy="171450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57750" y="1224855"/>
            <a:ext cx="192366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The Bad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857750" y="1491555"/>
            <a:ext cx="38279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Point of Failure:</a:t>
            </a:r>
            <a:r>
              <a:rPr lang="en-US" sz="90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June 2021 - Fastly outage crashed entire network for 49 minutes.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57750" y="1891605"/>
            <a:ext cx="38279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</a:t>
            </a:r>
            <a:r>
              <a:rPr lang="en-US" sz="90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Amazon, Reddit, CNN, NYT, GitHub, Spotify, government sites went offline. $100M in lost revenue.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57750" y="2291655"/>
            <a:ext cx="38279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</a:t>
            </a:r>
            <a:r>
              <a:rPr lang="en-US" sz="90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Just 3-4 companies (Cloudflare, Akamai, Fastly, AWS CloudFront) handle majority of internet traffic.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67250" y="2920305"/>
            <a:ext cx="4095750" cy="1085850"/>
          </a:xfrm>
          <a:prstGeom prst="roundRect">
            <a:avLst>
              <a:gd name="adj" fmla="val 7018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686300" y="2920305"/>
            <a:ext cx="0" cy="108585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57750" y="3072705"/>
            <a:ext cx="192366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 Our Verdict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857750" y="3339405"/>
            <a:ext cx="3827907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CDNs are irreplaceable infrastructure enabling modern internet speed and scale. However, concentration risk creates fragility. The internet is faster and more efficient, but also more vulnerable.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81000" y="47815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Google Think with Google (2018), CNBC (2021), CSO Online (2021), Cisco Annual Internet Report (2020)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 &amp; Evolution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85750" y="600075"/>
            <a:ext cx="874395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225"/>
              </a:spcBef>
              <a:buNone/>
            </a:pPr>
            <a:r>
              <a:rPr lang="en-US" sz="10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of Scalable Deployment Technologies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1000" y="1053405"/>
            <a:ext cx="209854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Era (1979-2008)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81000" y="1339155"/>
            <a:ext cx="4105275" cy="366713"/>
          </a:xfrm>
          <a:prstGeom prst="roundRect">
            <a:avLst>
              <a:gd name="adj" fmla="val 15584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85775" y="1443930"/>
            <a:ext cx="397364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1979:</a:t>
            </a:r>
            <a:r>
              <a:rPr lang="en-US" sz="825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Unix V7 introduced chroot - first process isolation technique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381000" y="1782068"/>
            <a:ext cx="4105275" cy="366713"/>
          </a:xfrm>
          <a:prstGeom prst="roundRect">
            <a:avLst>
              <a:gd name="adj" fmla="val 15584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85775" y="1886843"/>
            <a:ext cx="397364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1998:</a:t>
            </a:r>
            <a:r>
              <a:rPr lang="en-US" sz="825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Akamai founded, pioneering Content Delivery Networks (CDN)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381000" y="2224980"/>
            <a:ext cx="4105275" cy="366713"/>
          </a:xfrm>
          <a:prstGeom prst="roundRect">
            <a:avLst>
              <a:gd name="adj" fmla="val 15584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5775" y="2329755"/>
            <a:ext cx="397364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2000-2008:</a:t>
            </a:r>
            <a:r>
              <a:rPr lang="en-US" sz="825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FreeBSD Jails (2000) and Linux Containers LXC (2008) using cgroups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381000" y="2667893"/>
            <a:ext cx="4105275" cy="366713"/>
          </a:xfrm>
          <a:prstGeom prst="roundRect">
            <a:avLst>
              <a:gd name="adj" fmla="val 15584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5775" y="2772668"/>
            <a:ext cx="397364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2003-2004:</a:t>
            </a:r>
            <a:r>
              <a:rPr lang="en-US" sz="825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Google developed Borg for internal cluster management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381000" y="3110805"/>
            <a:ext cx="4105275" cy="366713"/>
          </a:xfrm>
          <a:prstGeom prst="roundRect">
            <a:avLst>
              <a:gd name="adj" fmla="val 15584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5775" y="3215580"/>
            <a:ext cx="397364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2006:</a:t>
            </a:r>
            <a:r>
              <a:rPr lang="en-US" sz="825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AWS launched EC2, commercializing on-demand virtual machines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4657725" y="1053405"/>
            <a:ext cx="209854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Era (2011-2022)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657725" y="1339155"/>
            <a:ext cx="4105275" cy="366713"/>
          </a:xfrm>
          <a:prstGeom prst="roundRect">
            <a:avLst>
              <a:gd name="adj" fmla="val 15584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676775" y="1339155"/>
            <a:ext cx="0" cy="366713"/>
          </a:xfrm>
          <a:prstGeom prst="line">
            <a:avLst/>
          </a:prstGeom>
          <a:noFill/>
          <a:ln w="381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00600" y="1443930"/>
            <a:ext cx="3934777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2011:</a:t>
            </a:r>
            <a:r>
              <a:rPr lang="en-US" sz="825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NIST formalized cloud computing standards (NIST SP 800-145)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4657725" y="1782068"/>
            <a:ext cx="4105275" cy="366713"/>
          </a:xfrm>
          <a:prstGeom prst="roundRect">
            <a:avLst>
              <a:gd name="adj" fmla="val 15584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676775" y="1782068"/>
            <a:ext cx="0" cy="366713"/>
          </a:xfrm>
          <a:prstGeom prst="line">
            <a:avLst/>
          </a:prstGeom>
          <a:noFill/>
          <a:ln w="381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00600" y="1886843"/>
            <a:ext cx="3934777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2013:</a:t>
            </a:r>
            <a:r>
              <a:rPr lang="en-US" sz="825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Docker launched, democratizing containers with standard image format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4657725" y="2224980"/>
            <a:ext cx="4105275" cy="366713"/>
          </a:xfrm>
          <a:prstGeom prst="roundRect">
            <a:avLst>
              <a:gd name="adj" fmla="val 15584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676775" y="2224980"/>
            <a:ext cx="0" cy="366712"/>
          </a:xfrm>
          <a:prstGeom prst="line">
            <a:avLst/>
          </a:prstGeom>
          <a:noFill/>
          <a:ln w="381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00600" y="2329755"/>
            <a:ext cx="3934777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2014:</a:t>
            </a:r>
            <a:r>
              <a:rPr lang="en-US" sz="825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Google open-sourced Kubernetes based on Borg lessons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4657725" y="2667893"/>
            <a:ext cx="4105275" cy="366713"/>
          </a:xfrm>
          <a:prstGeom prst="roundRect">
            <a:avLst>
              <a:gd name="adj" fmla="val 15584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676775" y="2667893"/>
            <a:ext cx="0" cy="366712"/>
          </a:xfrm>
          <a:prstGeom prst="line">
            <a:avLst/>
          </a:prstGeom>
          <a:noFill/>
          <a:ln w="381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00600" y="2772668"/>
            <a:ext cx="3934777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2015:</a:t>
            </a:r>
            <a:r>
              <a:rPr lang="en-US" sz="825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OCI &amp; CNCF founded. HTTP/2 published (RFC 7540) with multiplexing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4657725" y="3110805"/>
            <a:ext cx="4105275" cy="366713"/>
          </a:xfrm>
          <a:prstGeom prst="roundRect">
            <a:avLst>
              <a:gd name="adj" fmla="val 15584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4676775" y="3110805"/>
            <a:ext cx="0" cy="366712"/>
          </a:xfrm>
          <a:prstGeom prst="line">
            <a:avLst/>
          </a:prstGeom>
          <a:noFill/>
          <a:ln w="381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00600" y="3215580"/>
            <a:ext cx="3934777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2022:</a:t>
            </a:r>
            <a:r>
              <a:rPr lang="en-US" sz="825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HTTP/3 published (RFC 9114) using QUIC protocol over UDP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381000" y="47815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Zhao (2025), Aqua Security, IETF RFCs, Linux Foundation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Analytical Component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85750" y="600075"/>
            <a:ext cx="874395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225"/>
              </a:spcBef>
              <a:buNone/>
            </a:pPr>
            <a:r>
              <a:rPr lang="en-US" sz="10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Monitoring, Metrics &amp; Observability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1000" y="1053405"/>
            <a:ext cx="210826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Performance Metrics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81000" y="1339155"/>
            <a:ext cx="4105275" cy="739080"/>
          </a:xfrm>
          <a:prstGeom prst="roundRect">
            <a:avLst>
              <a:gd name="adj" fmla="val 773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95300" y="1453455"/>
            <a:ext cx="3954209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375"/>
              </a:spcAft>
              <a:buNone/>
            </a:pPr>
            <a:r>
              <a:rPr lang="en-US" sz="975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 &amp; Response Time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495300" y="1649611"/>
            <a:ext cx="395420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TTFB (Time to First Byte), P50/P95/P99 latency percentiles. Compare direct-to-origin vs. CDN-cached responses.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381000" y="2163961"/>
            <a:ext cx="4105275" cy="739080"/>
          </a:xfrm>
          <a:prstGeom prst="roundRect">
            <a:avLst>
              <a:gd name="adj" fmla="val 773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95300" y="2278261"/>
            <a:ext cx="3954209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375"/>
              </a:spcAft>
              <a:buNone/>
            </a:pPr>
            <a:r>
              <a:rPr lang="en-US" sz="975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Hit Ratio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495300" y="2474416"/>
            <a:ext cx="395420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Percentage of requests served from cache. Target: &gt;80% for CDN, &gt;90% for Redis. Monitor cache misses and invalidation patterns.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381000" y="2988766"/>
            <a:ext cx="4105275" cy="739080"/>
          </a:xfrm>
          <a:prstGeom prst="roundRect">
            <a:avLst>
              <a:gd name="adj" fmla="val 773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95300" y="3103066"/>
            <a:ext cx="3954209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375"/>
              </a:spcAft>
              <a:buNone/>
            </a:pPr>
            <a:r>
              <a:rPr lang="en-US" sz="975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Utilization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495300" y="3299222"/>
            <a:ext cx="395420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CPU, memory, disk I/O per pod/container. Kubernetes HPA triggers based on thresholds (e.g., 70% CPU).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381000" y="3813572"/>
            <a:ext cx="4105275" cy="739080"/>
          </a:xfrm>
          <a:prstGeom prst="roundRect">
            <a:avLst>
              <a:gd name="adj" fmla="val 773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95300" y="3927872"/>
            <a:ext cx="3954209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375"/>
              </a:spcAft>
              <a:buNone/>
            </a:pPr>
            <a:r>
              <a:rPr lang="en-US" sz="975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Throughput &amp; Traffic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495300" y="4124027"/>
            <a:ext cx="395420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Requests per second (RPS), bandwidth usage. Track traffic patterns and peak load handling capacity.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4657725" y="1053405"/>
            <a:ext cx="209854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 Tools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657725" y="1339155"/>
            <a:ext cx="4105275" cy="739080"/>
          </a:xfrm>
          <a:prstGeom prst="roundRect">
            <a:avLst>
              <a:gd name="adj" fmla="val 7733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676775" y="1339155"/>
            <a:ext cx="0" cy="739080"/>
          </a:xfrm>
          <a:prstGeom prst="line">
            <a:avLst/>
          </a:prstGeom>
          <a:noFill/>
          <a:ln w="381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10125" y="1453455"/>
            <a:ext cx="3915347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375"/>
              </a:spcAft>
              <a:buNone/>
            </a:pPr>
            <a:r>
              <a:rPr lang="en-US" sz="975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 &amp; Grafana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4810125" y="1649611"/>
            <a:ext cx="391534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Time-series metrics collection and visualization. Query metrics from Kubernetes pods, nodes, and services.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4657725" y="2163961"/>
            <a:ext cx="4105275" cy="739080"/>
          </a:xfrm>
          <a:prstGeom prst="roundRect">
            <a:avLst>
              <a:gd name="adj" fmla="val 7733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676775" y="2163961"/>
            <a:ext cx="0" cy="739080"/>
          </a:xfrm>
          <a:prstGeom prst="line">
            <a:avLst/>
          </a:prstGeom>
          <a:noFill/>
          <a:ln w="381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10125" y="2278261"/>
            <a:ext cx="3915347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375"/>
              </a:spcAft>
              <a:buNone/>
            </a:pPr>
            <a:r>
              <a:rPr lang="en-US" sz="975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CloudWatch / DataDog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4810125" y="2474416"/>
            <a:ext cx="391534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Cloud-native monitoring for AWS infrastructure. Track Lambda@Edge invocations, CDN performance, S3 access patterns.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4657725" y="2988766"/>
            <a:ext cx="4105275" cy="739080"/>
          </a:xfrm>
          <a:prstGeom prst="roundRect">
            <a:avLst>
              <a:gd name="adj" fmla="val 7733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676775" y="2988766"/>
            <a:ext cx="0" cy="739080"/>
          </a:xfrm>
          <a:prstGeom prst="line">
            <a:avLst/>
          </a:prstGeom>
          <a:noFill/>
          <a:ln w="381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10125" y="3103066"/>
            <a:ext cx="3915347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375"/>
              </a:spcAft>
              <a:buNone/>
            </a:pPr>
            <a:r>
              <a:rPr lang="en-US" sz="975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Distributed Tracing</a:t>
            </a:r>
            <a:endParaRPr lang="en-US" sz="975" dirty="0"/>
          </a:p>
        </p:txBody>
      </p:sp>
      <p:sp>
        <p:nvSpPr>
          <p:cNvPr id="29" name="Text 27"/>
          <p:cNvSpPr/>
          <p:nvPr/>
        </p:nvSpPr>
        <p:spPr>
          <a:xfrm>
            <a:off x="4810125" y="3299222"/>
            <a:ext cx="391534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Jaeger, Zipkin for request flow across microservices. Identify bottlenecks in distributed architectures.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4657725" y="3813572"/>
            <a:ext cx="4105275" cy="739080"/>
          </a:xfrm>
          <a:prstGeom prst="roundRect">
            <a:avLst>
              <a:gd name="adj" fmla="val 7733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4676775" y="3813572"/>
            <a:ext cx="0" cy="73908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10125" y="3927872"/>
            <a:ext cx="3915347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375"/>
              </a:spcAft>
              <a:buNone/>
            </a:pPr>
            <a:r>
              <a:rPr lang="en-US" sz="975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Analysis</a:t>
            </a:r>
            <a:endParaRPr lang="en-US" sz="975" dirty="0"/>
          </a:p>
        </p:txBody>
      </p:sp>
      <p:sp>
        <p:nvSpPr>
          <p:cNvPr id="33" name="Text 31"/>
          <p:cNvSpPr/>
          <p:nvPr/>
        </p:nvSpPr>
        <p:spPr>
          <a:xfrm>
            <a:off x="4810125" y="4124027"/>
            <a:ext cx="391534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bandwidth costs, compute hours, storage fees. Compare Kubernetes vs. serverless economics. Optimize resource allocation.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381000" y="47815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SER421 Project Tutorial - Analytical Component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E56F5-EC04-3502-6964-0023313DA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8D1F0F-40D0-5D09-BC82-8935EC511852}"/>
              </a:ext>
            </a:extLst>
          </p:cNvPr>
          <p:cNvSpPr txBox="1"/>
          <p:nvPr/>
        </p:nvSpPr>
        <p:spPr>
          <a:xfrm>
            <a:off x="1084811" y="2954976"/>
            <a:ext cx="69743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solidFill>
                  <a:schemeClr val="accent1"/>
                </a:solidFill>
              </a:rPr>
              <a:t>Open for Q &amp; 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47F879-9C1F-59CF-6EC2-E428EDEB3683}"/>
              </a:ext>
            </a:extLst>
          </p:cNvPr>
          <p:cNvSpPr txBox="1"/>
          <p:nvPr/>
        </p:nvSpPr>
        <p:spPr>
          <a:xfrm>
            <a:off x="1224742" y="1803803"/>
            <a:ext cx="697437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accent1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0455241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1142</Words>
  <Application>Microsoft Macintosh PowerPoint</Application>
  <PresentationFormat>On-screen Show (16:9)</PresentationFormat>
  <Paragraphs>105</Paragraphs>
  <Slides>8</Slides>
  <Notes>6</Notes>
  <HiddenSlides>1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Rushit Hemang Kothari (Student)</cp:lastModifiedBy>
  <cp:revision>2</cp:revision>
  <dcterms:created xsi:type="dcterms:W3CDTF">2025-12-09T21:02:58Z</dcterms:created>
  <dcterms:modified xsi:type="dcterms:W3CDTF">2025-12-09T21:15:14Z</dcterms:modified>
</cp:coreProperties>
</file>